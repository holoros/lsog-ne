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D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143000"/>
            <a:ext cx="10881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hard is it to map old forest in Maine?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74320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DB5D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multi-method uncertainty assessment, and a caution for conservation prioritization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4206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Aaron Weiskittel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475488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DB5D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Center for Research on Sustainable Forests  |  University of Maine  |  June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this matters now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6984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B2223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$200–300 million</a:t>
            </a:r>
            <a:pPr algn="ctr" indent="0" marL="0">
              <a:buNone/>
            </a:pPr>
            <a:endParaRPr lang="en-US" sz="46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estimated cost to protect the “top 50%” of LSOG patches</a:t>
            </a:r>
            <a:endParaRPr lang="en-US" sz="46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a single LiDAR map (Thompson et al. 2026, informing LD 1529)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1280160" y="4114800"/>
            <a:ext cx="9601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LD 1529 requires a statewide LSOG conservation strategy by November 2026. When one map becomes the basis for patch-level spending at this scale, the map’s uncertainty is a first-order question.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1A3D2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26364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single map is being turned into hundreds of millions in conservation priorities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Three credible ways to map LSOG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3474720" cy="3566160"/>
          </a:xfrm>
          <a:prstGeom prst="rect">
            <a:avLst/>
          </a:prstGeom>
          <a:solidFill>
            <a:srgbClr val="F4F7F5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463040"/>
            <a:ext cx="91440" cy="3566160"/>
          </a:xfrm>
          <a:prstGeom prst="rect">
            <a:avLst/>
          </a:prstGeom>
          <a:solidFill>
            <a:srgbClr val="1A3D28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4592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3D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M1 Hagan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2286000"/>
            <a:ext cx="31089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 on 8 airborne-LiDAR canopy metrics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4114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Measures canopy shape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89120" y="1463040"/>
            <a:ext cx="3474720" cy="3566160"/>
          </a:xfrm>
          <a:prstGeom prst="rect">
            <a:avLst/>
          </a:prstGeom>
          <a:solidFill>
            <a:srgbClr val="F4F7F5"/>
          </a:solidFill>
          <a:ln/>
        </p:spPr>
      </p:sp>
      <p:sp>
        <p:nvSpPr>
          <p:cNvPr id="9" name="Shape 7"/>
          <p:cNvSpPr/>
          <p:nvPr/>
        </p:nvSpPr>
        <p:spPr>
          <a:xfrm>
            <a:off x="4389120" y="1463040"/>
            <a:ext cx="91440" cy="3566160"/>
          </a:xfrm>
          <a:prstGeom prst="rect">
            <a:avLst/>
          </a:prstGeom>
          <a:solidFill>
            <a:srgbClr val="2C7FB8"/>
          </a:solidFill>
          <a:ln/>
        </p:spPr>
      </p:sp>
      <p:sp>
        <p:nvSpPr>
          <p:cNvPr id="10" name="Text 8"/>
          <p:cNvSpPr/>
          <p:nvPr/>
        </p:nvSpPr>
        <p:spPr>
          <a:xfrm>
            <a:off x="4617720" y="164592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7FB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M2 v5.1-GEDI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617720" y="2286000"/>
            <a:ext cx="31089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FIA field-structure class, calibrated to GEDI canopy height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17720" y="4114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Measures field structure, mapped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138160" y="1463040"/>
            <a:ext cx="3474720" cy="3566160"/>
          </a:xfrm>
          <a:prstGeom prst="rect">
            <a:avLst/>
          </a:prstGeom>
          <a:solidFill>
            <a:srgbClr val="F4F7F5"/>
          </a:solidFill>
          <a:ln/>
        </p:spPr>
      </p:sp>
      <p:sp>
        <p:nvSpPr>
          <p:cNvPr id="14" name="Shape 12"/>
          <p:cNvSpPr/>
          <p:nvPr/>
        </p:nvSpPr>
        <p:spPr>
          <a:xfrm>
            <a:off x="8138160" y="1463040"/>
            <a:ext cx="91440" cy="356616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5" name="Text 13"/>
          <p:cNvSpPr/>
          <p:nvPr/>
        </p:nvSpPr>
        <p:spPr>
          <a:xfrm>
            <a:off x="8366760" y="164592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5A5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M3 Potapov-direct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366760" y="2286000"/>
            <a:ext cx="31089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GEDI canopy height ≥ 18 m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366760" y="4114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Measures tall canopy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48640" y="5897880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v5.1 field class: OG matches independent national estimate (0.128% vs 0.130%); OG carbon 2.6–3.6× non-LSOG.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1A3D28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626364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defensible target is FIA field structure; GEDI height is the best wall-to-wall predictor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They disagree on how much</a:t>
            </a:r>
            <a:endParaRPr lang="en-US" sz="2900" dirty="0"/>
          </a:p>
        </p:txBody>
      </p:sp>
      <p:pic>
        <p:nvPicPr>
          <p:cNvPr id="3" name="Image 0" descr="figs/u_are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371600"/>
            <a:ext cx="7498080" cy="44348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052560" y="1828800"/>
            <a:ext cx="27432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B2223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1.6×</a:t>
            </a:r>
            <a:pPr algn="ctr" indent="0" marL="0">
              <a:buNone/>
            </a:pPr>
            <a:endParaRPr lang="en-US" sz="48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Hagan vs the</a:t>
            </a:r>
            <a:endParaRPr lang="en-US" sz="48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GEDI methods</a:t>
            </a:r>
            <a:endParaRPr lang="en-US" sz="4800" dirty="0"/>
          </a:p>
          <a:p>
            <a:pPr algn="ctr" indent="0" marL="0">
              <a:buNone/>
            </a:pPr>
            <a:endParaRPr lang="en-US" sz="4800" dirty="0"/>
          </a:p>
          <a:p>
            <a:pPr algn="ctr" indent="0" marL="0">
              <a:buNone/>
            </a:pPr>
            <a:endParaRPr lang="en-US" sz="4800" dirty="0"/>
          </a:p>
          <a:p>
            <a:pPr algn="ctr" indent="0" marL="0">
              <a:buNone/>
            </a:pPr>
            <a:r>
              <a:rPr lang="en-US" sz="3400" b="1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2.5×</a:t>
            </a:r>
            <a:endParaRPr lang="en-US" sz="4800" dirty="0"/>
          </a:p>
          <a:p>
            <a:pPr algn="ctr" indent="0" marL="0">
              <a:buNone/>
            </a:pPr>
            <a:endParaRPr lang="en-US" sz="48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swing within</a:t>
            </a:r>
            <a:endParaRPr lang="en-US" sz="48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method</a:t>
            </a:r>
            <a:endParaRPr lang="en-US" sz="4800" dirty="0"/>
          </a:p>
        </p:txBody>
      </p:sp>
      <p:sp>
        <p:nvSpPr>
          <p:cNvPr id="5" name="Shape 2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1A3D28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6364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“How much LSOG is there?” has no single answer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They disagree on where, much more</a:t>
            </a:r>
            <a:endParaRPr lang="en-US" sz="2900" dirty="0"/>
          </a:p>
        </p:txBody>
      </p:sp>
      <p:pic>
        <p:nvPicPr>
          <p:cNvPr id="3" name="Image 0" descr="figs/M_three_ma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37360"/>
            <a:ext cx="1124712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5669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24 km window. Hagan (green) flags far more forest, in different places, than the GEDI-based maps (blue, gold).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1A3D28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6364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About 4 of every 5 LSOG hectares are flagged by one method but not the other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LSOG footprint is mostly method-dependent</a:t>
            </a:r>
            <a:endParaRPr lang="en-US" sz="2900" dirty="0"/>
          </a:p>
        </p:txBody>
      </p:sp>
      <p:pic>
        <p:nvPicPr>
          <p:cNvPr id="3" name="Image 0" descr="figs/u_concord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1371600"/>
            <a:ext cx="5120640" cy="44348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75120" y="1828800"/>
            <a:ext cx="49377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3D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only 21%</a:t>
            </a:r>
            <a:pPr indent="0" marL="0">
              <a:buNone/>
            </a:pPr>
            <a:endParaRPr lang="en-US" sz="40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 the flagged footprint is</a:t>
            </a:r>
            <a:endParaRPr lang="en-US" sz="40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agreed by all three methods</a:t>
            </a:r>
            <a:endParaRPr lang="en-US" sz="4000" dirty="0"/>
          </a:p>
          <a:p>
            <a:pPr indent="0" marL="0">
              <a:buNone/>
            </a:pPr>
            <a:endParaRPr lang="en-US" sz="4000" dirty="0"/>
          </a:p>
          <a:p>
            <a:pPr indent="0" marL="0">
              <a:buNone/>
            </a:pPr>
            <a:endParaRPr lang="en-US" sz="4000" dirty="0"/>
          </a:p>
          <a:p>
            <a:pPr indent="0" marL="0">
              <a:buNone/>
            </a:pPr>
            <a:r>
              <a:rPr lang="en-US" sz="3200" b="1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53%</a:t>
            </a:r>
            <a:endParaRPr lang="en-US" sz="4000" dirty="0"/>
          </a:p>
          <a:p>
            <a:pPr indent="0" marL="0">
              <a:buNone/>
            </a:pPr>
            <a:endParaRPr lang="en-US" sz="4000" dirty="0"/>
          </a:p>
          <a:p>
            <a:pPr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 flagged by a single</a:t>
            </a:r>
            <a:endParaRPr lang="en-US" sz="4000" dirty="0"/>
          </a:p>
          <a:p>
            <a:pPr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method alone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1A3D28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6364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of the mapped LSOG depends on which method you choose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method matches the field plots well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A3D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kappa 0.06 – 0.21</a:t>
            </a:r>
            <a:pPr algn="ctr" indent="0" marL="0">
              <a:buNone/>
            </a:pPr>
            <a:endParaRPr lang="en-US" sz="44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agreement of every method with the FIA field-structure</a:t>
            </a:r>
            <a:endParaRPr lang="en-US" sz="44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 at 1,760 plots (plot-level to wall-to-wall)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280160" y="4023360"/>
            <a:ext cx="9601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 the FIA-calibrated GEDI product reaches only 0.063 plot-by-plot. Canopy height alone cannot resolve the tree-level structure that defines LSOG. The field class is itself a proxy for a continuous, fuzzy property — there is no clean ground truth.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1A3D2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26364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LSOG is inherently continuous and fuzzy; every product is an uncertain estimate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this matters for conservation spending</a:t>
            </a:r>
            <a:endParaRPr lang="en-US" sz="2900" dirty="0"/>
          </a:p>
        </p:txBody>
      </p:sp>
      <p:pic>
        <p:nvPicPr>
          <p:cNvPr id="3" name="Image 0" descr="figs/u_fragi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371600"/>
            <a:ext cx="6766560" cy="43891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138160" y="1828800"/>
            <a:ext cx="36576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B2223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70–84%</a:t>
            </a:r>
            <a:pPr indent="0" marL="0">
              <a:buNone/>
            </a:pPr>
            <a:endParaRPr lang="en-US" sz="42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 the prioritized hectares</a:t>
            </a:r>
            <a:endParaRPr lang="en-US" sz="42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 depending on which</a:t>
            </a:r>
            <a:endParaRPr lang="en-US" sz="42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 you trust</a:t>
            </a:r>
            <a:endParaRPr lang="en-US" sz="4200" dirty="0"/>
          </a:p>
          <a:p>
            <a:pPr indent="0" marL="0">
              <a:buNone/>
            </a:pPr>
            <a:endParaRPr lang="en-US" sz="4200" dirty="0"/>
          </a:p>
          <a:p>
            <a:pPr indent="0" marL="0">
              <a:buNone/>
            </a:pPr>
            <a:endParaRPr lang="en-US" sz="4200" dirty="0"/>
          </a:p>
          <a:p>
            <a:pPr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$200–300M program would</a:t>
            </a:r>
            <a:endParaRPr lang="en-US" sz="4200" dirty="0"/>
          </a:p>
          <a:p>
            <a:pPr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 largely different forest.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1A3D28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6364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Spatial uncertainty, not just the headline total, is the operative risk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Is LSOG really “rapidly disappearing”?</a:t>
            </a:r>
            <a:endParaRPr lang="en-US" sz="2900" dirty="0"/>
          </a:p>
        </p:txBody>
      </p:sp>
      <p:pic>
        <p:nvPicPr>
          <p:cNvPr id="3" name="Image 0" descr="figs/u_tre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371600"/>
            <a:ext cx="7498080" cy="42976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052560" y="1737360"/>
            <a:ext cx="27432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A3D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No.</a:t>
            </a:r>
            <a:pPr indent="0" marL="0">
              <a:buNone/>
            </a:pPr>
            <a:endParaRPr lang="en-US" sz="46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TreeMap and FIA both show</a:t>
            </a:r>
            <a:endParaRPr lang="en-US" sz="46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LSOG stock rising</a:t>
            </a:r>
            <a:endParaRPr lang="en-US" sz="46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(+2.4 to +3.2%/yr)</a:t>
            </a:r>
            <a:endParaRPr lang="en-US" sz="4600" dirty="0"/>
          </a:p>
          <a:p>
            <a:pPr indent="0" marL="0">
              <a:buNone/>
            </a:pPr>
            <a:endParaRPr lang="en-US" sz="4600" dirty="0"/>
          </a:p>
          <a:p>
            <a:pPr indent="0" marL="0">
              <a:buNone/>
            </a:pPr>
            <a:endParaRPr lang="en-US" sz="4600" dirty="0"/>
          </a:p>
          <a:p>
            <a:pPr indent="0" marL="0">
              <a:buNone/>
            </a:pPr>
            <a:r>
              <a:rPr lang="en-US" sz="1500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Hagan’s “loss” is harvest</a:t>
            </a:r>
            <a:endParaRPr lang="en-US" sz="4600" dirty="0"/>
          </a:p>
          <a:p>
            <a:pPr indent="0" marL="0">
              <a:buNone/>
            </a:pPr>
            <a:r>
              <a:rPr lang="en-US" sz="1500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flux, not net stock.</a:t>
            </a:r>
            <a:endParaRPr lang="en-US" sz="4600" dirty="0"/>
          </a:p>
        </p:txBody>
      </p:sp>
      <p:sp>
        <p:nvSpPr>
          <p:cNvPr id="5" name="Shape 2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1A3D28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6364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Stands are harvested at ~2%/yr, but total LSOG is not declining — different questions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third method widens the disagreement</a:t>
            </a:r>
            <a:endParaRPr lang="en-US" sz="2900" dirty="0"/>
          </a:p>
        </p:txBody>
      </p:sp>
      <p:pic>
        <p:nvPicPr>
          <p:cNvPr id="3" name="Image 0" descr="figs/u_spread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1371600"/>
            <a:ext cx="6583680" cy="4023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0" y="1920240"/>
            <a:ext cx="31089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B2223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2.8×</a:t>
            </a:r>
            <a:pPr indent="0" marL="0">
              <a:buNone/>
            </a:pPr>
            <a:endParaRPr lang="en-US" sz="48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spread in “how much</a:t>
            </a:r>
            <a:endParaRPr lang="en-US" sz="48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LSOG” across three</a:t>
            </a:r>
            <a:endParaRPr lang="en-US" sz="48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credible methods</a:t>
            </a:r>
            <a:endParaRPr lang="en-US" sz="48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(7.8% to 21.9%)</a:t>
            </a:r>
            <a:endParaRPr lang="en-US" sz="4800" dirty="0"/>
          </a:p>
        </p:txBody>
      </p:sp>
      <p:sp>
        <p:nvSpPr>
          <p:cNvPr id="5" name="Shape 2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1A3D28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6364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more methods we add, the wider the uncertainty, not the narrower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This is real disagreement, not a reproduction error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914400" y="21945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3D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94.2% vs 94.1%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320040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reproduced Hagan’s model exactly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0" y="21945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3D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kappa 0.97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572000" y="320040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Seven Islands raster equals the published model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0" y="21945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3D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robust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229600" y="320040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20-seed, fuzz, and bootstrap checks all hold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1A3D28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626364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divergence reflects genuine methodological differences in defining LSOG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to do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731520" y="1627632"/>
            <a:ext cx="146304" cy="14630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444752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 LSOG extent as a range across methods with explicit uncertainty, not one number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2679192"/>
            <a:ext cx="146304" cy="14630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496312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Treat single-map patch-level prioritization for large spending with caution; field-verify before acquisition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31520" y="3730752"/>
            <a:ext cx="146304" cy="14630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547872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Anchor the mappable definition in FIA field structure (v5.1) with GEDI height as predictor — most defensible, still one estimate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1520" y="4782312"/>
            <a:ext cx="146304" cy="14630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599432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Reports informing LD 1529 should carry the mapping uncertainty in the headline, not the appendix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1A3D28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626364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maps as uncertain guidance, not as precise spending blueprints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0"/>
            <a:ext cx="11247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A3D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Questions / comments?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0" y="6035040"/>
            <a:ext cx="12188952" cy="822960"/>
          </a:xfrm>
          <a:prstGeom prst="rect">
            <a:avLst/>
          </a:prstGeom>
          <a:solidFill>
            <a:srgbClr val="1A3D28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6035040"/>
            <a:ext cx="121889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aaron.weiskittel@maine.edu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2026-06-09T16:18:32Z</dcterms:created>
  <dcterms:modified xsi:type="dcterms:W3CDTF">2026-06-09T16:18:32Z</dcterms:modified>
</cp:coreProperties>
</file>